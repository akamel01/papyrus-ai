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0" d="100"/>
          <a:sy n="160" d="100"/>
        </p:scale>
        <p:origin x="2299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385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640080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6583680" y="-457200"/>
            <a:ext cx="54864" cy="6400800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SME RESEARCH ASSISTANT  ·  INTERNAL BRIEFING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Generalized AI Never Works,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What Works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Your Team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BF4"/>
                </a:solidFill>
              </a:rPr>
              <a:t>A Production-Grade, Domain-Specific RAG System Built for Transportation Engineering Research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1005840" cy="25603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57200" y="3886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🔒 PRIVATE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54480" y="3886200"/>
            <a:ext cx="1188720" cy="256032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554480" y="3886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⚡ LOW LATENCY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834640" y="3886200"/>
            <a:ext cx="118872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2834640" y="3886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💰 ZERO API COST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0" y="3886200"/>
            <a:ext cx="1097280" cy="256032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114800" y="38862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🔍 TRANSPARENT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766560" y="1097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</a:rPr>
              <a:t>Built on: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🧠  LLM via Ollama (Local)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984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📦  Qdrant Vector Store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24597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🔡  BM25 Keyword Index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66560" y="293522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📄  APA-Cited Output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341071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🛡️  Evidence-First Pipeline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WHAT WE'LL COVER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4206240" cy="86868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64008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94360" y="17465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17465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2103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Why generalized AI fails your team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4206240" cy="86868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64008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94360" y="27980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5568" y="27980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Why This System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154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Privacy, security, cost, latency &amp; control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4206240" cy="86868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64008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94360" y="38496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15568" y="38496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4206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How the pipeline is built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691640"/>
            <a:ext cx="4206240" cy="86868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4937760" y="1691640"/>
            <a:ext cx="64008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5074920" y="174650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96128" y="174650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Intelligence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1031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Hybrid search, evidence-first generation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743200"/>
            <a:ext cx="4206240" cy="86868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937760" y="2743200"/>
            <a:ext cx="64008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5074920" y="279806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96128" y="279806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Resilience &amp; Safety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96128" y="3154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Fallbacks, diagnostic gates &amp; self-healing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794760"/>
            <a:ext cx="4206240" cy="86868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>
            <a:off x="4937760" y="3794760"/>
            <a:ext cx="64008" cy="868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2" name="Text 30"/>
          <p:cNvSpPr/>
          <p:nvPr/>
        </p:nvSpPr>
        <p:spPr>
          <a:xfrm>
            <a:off x="5074920" y="384962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96128" y="384962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96128" y="42062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Key takeaways &amp; what's next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with Generalized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NotebookLM &amp; Deep Research modes weren't built for your team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What they promise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4023360" cy="384048"/>
          </a:xfrm>
          <a:prstGeom prst="rect">
            <a:avLst/>
          </a:prstGeom>
          <a:solidFill>
            <a:srgbClr val="1A0F0F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🌐  Your data leaves your network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023360" cy="384048"/>
          </a:xfrm>
          <a:prstGeom prst="rect">
            <a:avLst/>
          </a:prstGeom>
          <a:solidFill>
            <a:srgbClr val="1A0F0F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💸  Per-token API costs at scale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4023360" cy="384048"/>
          </a:xfrm>
          <a:prstGeom prst="rect">
            <a:avLst/>
          </a:prstGeom>
          <a:solidFill>
            <a:srgbClr val="1A0F0F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94360" y="29260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🎲  Non-reproducible, hallucinated answers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4023360" cy="384048"/>
          </a:xfrm>
          <a:prstGeom prst="rect">
            <a:avLst/>
          </a:prstGeom>
          <a:solidFill>
            <a:srgbClr val="1A0F0F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94360" y="33832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🔒  No access control or audit trail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4023360" cy="384048"/>
          </a:xfrm>
          <a:prstGeom prst="rect">
            <a:avLst/>
          </a:prstGeom>
          <a:solidFill>
            <a:srgbClr val="1A0F0F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94360" y="38404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📂  Ignores your curated literature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4023360" cy="384048"/>
          </a:xfrm>
          <a:prstGeom prst="rect">
            <a:avLst/>
          </a:prstGeom>
          <a:solidFill>
            <a:srgbClr val="1A0F0F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594360" y="4297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🔮  Black-box reasoning, zero citations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</a:rPr>
              <a:t>What your team actually needs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011680"/>
            <a:ext cx="4206240" cy="384048"/>
          </a:xfrm>
          <a:prstGeom prst="rect">
            <a:avLst/>
          </a:prstGeom>
          <a:solidFill>
            <a:srgbClr val="0A1A11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800600" y="2011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🛡️  All computation stays on-premises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468880"/>
            <a:ext cx="4206240" cy="384048"/>
          </a:xfrm>
          <a:prstGeom prst="rect">
            <a:avLst/>
          </a:prstGeom>
          <a:solidFill>
            <a:srgbClr val="0A1A11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800600" y="24688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💰  Fixed infrastructure, near-zero marginal cost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926080"/>
            <a:ext cx="4206240" cy="384048"/>
          </a:xfrm>
          <a:prstGeom prst="rect">
            <a:avLst/>
          </a:prstGeom>
          <a:solidFill>
            <a:srgbClr val="0A1A11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4800600" y="29260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✅  Every claim traced to a real document (e.g., paper)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3383280"/>
            <a:ext cx="4206240" cy="384048"/>
          </a:xfrm>
          <a:prstGeom prst="rect">
            <a:avLst/>
          </a:prstGeom>
          <a:solidFill>
            <a:srgbClr val="0A1A11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800600" y="33832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🔑  Full audit log &amp; access control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3840480"/>
            <a:ext cx="4206240" cy="384048"/>
          </a:xfrm>
          <a:prstGeom prst="rect">
            <a:avLst/>
          </a:prstGeom>
          <a:solidFill>
            <a:srgbClr val="0A1A11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4800600" y="38404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📚  Searches only your curated knowledge base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4297680"/>
            <a:ext cx="4206240" cy="384048"/>
          </a:xfrm>
          <a:prstGeom prst="rect">
            <a:avLst/>
          </a:prstGeom>
          <a:solidFill>
            <a:srgbClr val="0A1A11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4800600" y="429768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BF4"/>
                </a:solidFill>
              </a:rPr>
              <a:t>🔍  Transparent reasoning + APA citations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1600200"/>
            <a:ext cx="54864" cy="31546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4251960" y="2971800"/>
            <a:ext cx="420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VS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MOTIVATION — WHY THIS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 by Design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never leaves your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377440" cy="2377440"/>
          </a:xfrm>
          <a:prstGeom prst="rect">
            <a:avLst/>
          </a:prstGeom>
          <a:solidFill>
            <a:srgbClr val="102B4A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D9488"/>
                </a:solidFill>
              </a:rPr>
              <a:t>100%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On-Premises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No external API calls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</a:rPr>
              <a:t>for inference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600200"/>
            <a:ext cx="5760720" cy="68580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3108960" y="16002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3246120" y="1645920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🔒  Local LLM via Ollama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9202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All language model inference runs locally. Your research questions and documents stay internal.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08960" y="2359152"/>
            <a:ext cx="5760720" cy="68580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3108960" y="2359152"/>
            <a:ext cx="54864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3246120" y="240487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🗄️  Local Vector Database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46120" y="26791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Qdrant runs on your hardware. Embeddings, indexes, and paper chunks never touch external servers.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08960" y="3118104"/>
            <a:ext cx="5760720" cy="68580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3108960" y="3118104"/>
            <a:ext cx="54864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3246120" y="316382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🔑  Access Control Layer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34381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Authentication gates all endpoints. Rate limiting enforced via core/rate_limiter.py.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08960" y="3877056"/>
            <a:ext cx="5760720" cy="68580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3108960" y="3877056"/>
            <a:ext cx="54864" cy="6858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246120" y="392277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🧾  Full Audit Trail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419709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StepTracker + DiagnosticGate log every pipeline step — who asked what, when, and what evidence was used.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MOTIVATION — WHY THIS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 · Low Latency · Infinite Scalability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606040" cy="1920240"/>
          </a:xfrm>
          <a:prstGeom prst="rect">
            <a:avLst/>
          </a:prstGeom>
          <a:solidFill>
            <a:srgbClr val="102B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0604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2128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9E0B"/>
                </a:solidFill>
              </a:rPr>
              <a:t>~$0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7200" y="28163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Per Query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No API billing.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Fixed infra cost only.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91840" y="1600200"/>
            <a:ext cx="2606040" cy="1920240"/>
          </a:xfrm>
          <a:prstGeom prst="rect">
            <a:avLst/>
          </a:prstGeom>
          <a:solidFill>
            <a:srgbClr val="102B4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3291840" y="1600200"/>
            <a:ext cx="260604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91840" y="22128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</a:rPr>
              <a:t>&lt;5s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291840" y="28163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Retrieval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090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Local embedding GPU.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No network round-trips.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26480" y="1600200"/>
            <a:ext cx="2606040" cy="1920240"/>
          </a:xfrm>
          <a:prstGeom prst="rect">
            <a:avLst/>
          </a:prstGeom>
          <a:solidFill>
            <a:srgbClr val="102B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6126480" y="1600200"/>
            <a:ext cx="260604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126480" y="17373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221284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</a:rPr>
              <a:t>∞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126480" y="281635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Scale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309067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Add more papers.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System adapts automatically.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36013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</a:rPr>
              <a:t>Comparison at Scale (100 queries/day)</a:t>
            </a:r>
            <a:endParaRPr lang="en-US" sz="11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58095"/>
              </p:ext>
            </p:extLst>
          </p:nvPr>
        </p:nvGraphicFramePr>
        <p:xfrm>
          <a:off x="457200" y="3854750"/>
          <a:ext cx="8412480" cy="11811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</a:rPr>
                        <a:t>ChatGPT / GPT-5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</a:rPr>
                        <a:t>NotebookLM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B4D8"/>
                          </a:solidFill>
                        </a:rPr>
                        <a:t>Your System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BF4"/>
                          </a:solidFill>
                        </a:rPr>
                        <a:t>Cost/month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2EBF4"/>
                          </a:solidFill>
                        </a:rPr>
                        <a:t>~$500–$2,000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2EBF4"/>
                          </a:solidFill>
                        </a:rPr>
                        <a:t>~$200+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$0 marginal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BF4"/>
                          </a:solidFill>
                        </a:rPr>
                        <a:t>Data privacy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2EBF4"/>
                          </a:solidFill>
                        </a:rPr>
                        <a:t>❌ Sent to OpenAI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2EBF4"/>
                          </a:solidFill>
                        </a:rPr>
                        <a:t>❌ Sent to Google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✅ On-premises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BF4"/>
                          </a:solidFill>
                        </a:rPr>
                        <a:t>Domain fit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2EBF4"/>
                          </a:solidFill>
                        </a:rPr>
                        <a:t>❌ Generic Deep Search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2EBF4"/>
                          </a:solidFill>
                        </a:rPr>
                        <a:t>⚠️ Upload or Generic Deep Search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✅ Curated KB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E2EBF4"/>
                          </a:solidFill>
                        </a:rPr>
                        <a:t>Citation qual.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2EBF4"/>
                          </a:solidFill>
                        </a:rPr>
                        <a:t>❌ May Hallucinate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E2EBF4"/>
                          </a:solidFill>
                        </a:rPr>
                        <a:t>⚠️ Basic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</a:rPr>
                        <a:t>✅ APA, DOI-verified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E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MOTIVATION — WHY THIS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Control, Full Transparency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every component — no black boxes, no vendor lock-in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4160520" cy="960120"/>
          </a:xfrm>
          <a:prstGeom prst="rect">
            <a:avLst/>
          </a:prstGeom>
          <a:solidFill>
            <a:srgbClr val="102B4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54864" cy="9601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9436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🎛️  Single Source of Truth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9933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All hyperparameters controlled from depth_presets.py. Change one value, the entire pipeline adapts — chunk counts, search rounds, LLM temperature, citation targets, everything.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724912"/>
            <a:ext cx="4160520" cy="960120"/>
          </a:xfrm>
          <a:prstGeom prst="rect">
            <a:avLst/>
          </a:prstGeom>
          <a:solidFill>
            <a:srgbClr val="102B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Shape 9"/>
          <p:cNvSpPr/>
          <p:nvPr/>
        </p:nvSpPr>
        <p:spPr>
          <a:xfrm>
            <a:off x="457200" y="2724912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🔬  Explainable Every Step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0906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The reasoning chain is exposed: what papers were retrieved, why follow-up searches were triggered, which facts were assigned to which paragraph. No guesswork.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822192"/>
            <a:ext cx="4160520" cy="960120"/>
          </a:xfrm>
          <a:prstGeom prst="rect">
            <a:avLst/>
          </a:prstGeom>
          <a:solidFill>
            <a:srgbClr val="102B4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457200" y="3822192"/>
            <a:ext cx="54864" cy="9601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59436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📖  APA-Cited Outputs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1879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Every claim is backed by a real DOI. The system uses Qdrant payloads + sme.db to ensure citations are accurate — not fabricated by the LLM.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37760" y="1627632"/>
            <a:ext cx="4160520" cy="960120"/>
          </a:xfrm>
          <a:prstGeom prst="rect">
            <a:avLst/>
          </a:prstGeom>
          <a:solidFill>
            <a:srgbClr val="102B4A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937760" y="1627632"/>
            <a:ext cx="54864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507492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🧩  Modular Architecture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9933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5 mixins, factory-pattern components, clear interfaces. Swap the LLM backend, replace the vector store, or add a new search layer without rewriting the pipeline.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0" y="2724912"/>
            <a:ext cx="4160520" cy="960120"/>
          </a:xfrm>
          <a:prstGeom prst="rect">
            <a:avLst/>
          </a:prstGeom>
          <a:solidFill>
            <a:srgbClr val="102B4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4937760" y="2724912"/>
            <a:ext cx="54864" cy="9601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07492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📊  Real-Time Observability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309067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StepTracker logs wall-clock timing per step. DiagnosticGate captures every failure. Status callbacks stream progress to the UI in real-time.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37760" y="3822192"/>
            <a:ext cx="4160520" cy="960120"/>
          </a:xfrm>
          <a:prstGeom prst="rect">
            <a:avLst/>
          </a:prstGeom>
          <a:solidFill>
            <a:srgbClr val="102B4A"/>
          </a:solidFill>
          <a:ln w="63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4937760" y="3822192"/>
            <a:ext cx="54864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507492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🏗️  Open, Extensible Stack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418795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Built on open-source: Ollama, Qdrant, Tantivy BM25. No proprietary APIs. No terms-of-service surprises. Extend it as your needs grow.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MOTIVATION — WHY THIS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Your Domain, Tunable for Every User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non-technical users get the right level of depth automatically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743200" cy="3246120"/>
          </a:xfrm>
          <a:prstGeom prst="rect">
            <a:avLst/>
          </a:prstGeom>
          <a:solidFill>
            <a:srgbClr val="102B4A"/>
          </a:solidFill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274320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66928" y="171907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DEPTH: 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66928" y="20848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BF4"/>
                </a:solidFill>
              </a:rPr>
              <a:t>👥 Non-technical staff, managers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2487168"/>
            <a:ext cx="2523744" cy="402336"/>
          </a:xfrm>
          <a:prstGeom prst="rect">
            <a:avLst/>
          </a:prstGeom>
          <a:solidFill>
            <a:srgbClr val="09182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58368" y="24871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🔍 Sub-queries: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74520" y="2487168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1 sub-query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962656"/>
            <a:ext cx="2523744" cy="402336"/>
          </a:xfrm>
          <a:prstGeom prst="rect">
            <a:avLst/>
          </a:prstGeom>
          <a:solidFill>
            <a:srgbClr val="09182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658368" y="296265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📄 Papers: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74520" y="2962656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Up to 15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" y="3438144"/>
            <a:ext cx="2523744" cy="402336"/>
          </a:xfrm>
          <a:prstGeom prst="rect">
            <a:avLst/>
          </a:prstGeom>
          <a:solidFill>
            <a:srgbClr val="09182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58368" y="34381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📑 Sections: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74520" y="3438144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2–3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6928" y="395020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Quick, clear summaries. Minimal jargon. Fast turnaround for decision-making.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337560" y="1600200"/>
            <a:ext cx="2743200" cy="3246120"/>
          </a:xfrm>
          <a:prstGeom prst="rect">
            <a:avLst/>
          </a:prstGeom>
          <a:solidFill>
            <a:srgbClr val="102B4A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Shape 19"/>
          <p:cNvSpPr/>
          <p:nvPr/>
        </p:nvSpPr>
        <p:spPr>
          <a:xfrm>
            <a:off x="3337560" y="160020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3447288" y="171907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DEPTH: MEDIUM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447288" y="20848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BF4"/>
                </a:solidFill>
              </a:rPr>
              <a:t>👥 Engineers, analysts, project leads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47288" y="2487168"/>
            <a:ext cx="2523744" cy="402336"/>
          </a:xfrm>
          <a:prstGeom prst="rect">
            <a:avLst/>
          </a:prstGeom>
          <a:solidFill>
            <a:srgbClr val="09182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3538728" y="24871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🔍 Sub-queries: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2487168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2–3 sub-queries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47288" y="2962656"/>
            <a:ext cx="2523744" cy="402336"/>
          </a:xfrm>
          <a:prstGeom prst="rect">
            <a:avLst/>
          </a:prstGeom>
          <a:solidFill>
            <a:srgbClr val="09182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3538728" y="296265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📄 Papers: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962656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Up to 30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47288" y="3438144"/>
            <a:ext cx="2523744" cy="402336"/>
          </a:xfrm>
          <a:prstGeom prst="rect">
            <a:avLst/>
          </a:prstGeom>
          <a:solidFill>
            <a:srgbClr val="09182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3538728" y="34381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📑 Sections: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438144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3–5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47288" y="395020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Balanced depth. Comparative analysis. Methodology awareness included.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1600200"/>
            <a:ext cx="2743200" cy="3246120"/>
          </a:xfrm>
          <a:prstGeom prst="rect">
            <a:avLst/>
          </a:prstGeom>
          <a:solidFill>
            <a:srgbClr val="102B4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Shape 33"/>
          <p:cNvSpPr/>
          <p:nvPr/>
        </p:nvSpPr>
        <p:spPr>
          <a:xfrm>
            <a:off x="6217920" y="1600200"/>
            <a:ext cx="274320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6327648" y="171907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DEPTH: HIGH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27648" y="208483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2EBF4"/>
                </a:solidFill>
              </a:rPr>
              <a:t>👥 Researchers, subject matter experts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27648" y="2487168"/>
            <a:ext cx="2523744" cy="402336"/>
          </a:xfrm>
          <a:prstGeom prst="rect">
            <a:avLst/>
          </a:prstGeom>
          <a:solidFill>
            <a:srgbClr val="09182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Text 37"/>
          <p:cNvSpPr/>
          <p:nvPr/>
        </p:nvSpPr>
        <p:spPr>
          <a:xfrm>
            <a:off x="6419088" y="2487168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🔍 Sub-queries: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635240" y="2487168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4–7 sub-queries + HyDE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27648" y="2962656"/>
            <a:ext cx="2523744" cy="402336"/>
          </a:xfrm>
          <a:prstGeom prst="rect">
            <a:avLst/>
          </a:prstGeom>
          <a:solidFill>
            <a:srgbClr val="09182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6419088" y="2962656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📄 Papers: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35240" y="2962656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50 target (30–70 range)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27648" y="3438144"/>
            <a:ext cx="2523744" cy="402336"/>
          </a:xfrm>
          <a:prstGeom prst="rect">
            <a:avLst/>
          </a:prstGeom>
          <a:solidFill>
            <a:srgbClr val="091829"/>
          </a:solidFill>
          <a:ln w="635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6419088" y="3438144"/>
            <a:ext cx="1234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</a:rPr>
              <a:t>📑 Sections: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35240" y="3438144"/>
            <a:ext cx="1216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5–8+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27648" y="3950208"/>
            <a:ext cx="2523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Exhaustive synthesis. Multi-round reflection. Evidence-First generation. Full APA references.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48280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🤖  Let AI Decide mode: the system autonomously selects the optimal depth level based on query complexity — no user intervention needed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MOTIVATION — WHY THIS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Fresh, Always Relevant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 stays in sync with the latest literature — automatically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1508760" cy="1828800"/>
          </a:xfrm>
          <a:prstGeom prst="rect">
            <a:avLst/>
          </a:prstGeom>
          <a:solidFill>
            <a:srgbClr val="102B4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New Papers Added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Upload new PDFs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or journal exports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92808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084832" y="1737360"/>
            <a:ext cx="1508760" cy="1828800"/>
          </a:xfrm>
          <a:prstGeom prst="rect">
            <a:avLst/>
          </a:prstGeom>
          <a:solidFill>
            <a:srgbClr val="102B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2084832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🔡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84832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BM25 Auto-Syncs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Tantivy index updates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(5% drift threshold)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1188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03904" y="1737360"/>
            <a:ext cx="1508760" cy="1828800"/>
          </a:xfrm>
          <a:prstGeom prst="rect">
            <a:avLst/>
          </a:prstGeom>
          <a:solidFill>
            <a:srgbClr val="102B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3803904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03904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Embeddings Indexed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03904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GPU-accelerated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4096-dim vectors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30952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522976" y="1737360"/>
            <a:ext cx="1508760" cy="1828800"/>
          </a:xfrm>
          <a:prstGeom prst="rect">
            <a:avLst/>
          </a:prstGeom>
          <a:solidFill>
            <a:srgbClr val="102B4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2" name="Text 20"/>
          <p:cNvSpPr/>
          <p:nvPr/>
        </p:nvSpPr>
        <p:spPr>
          <a:xfrm>
            <a:off x="5522976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522976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Queries Hit New Docs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22976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Hybrid search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finds the latest evidence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50024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42048" y="1737360"/>
            <a:ext cx="1508760" cy="1828800"/>
          </a:xfrm>
          <a:prstGeom prst="rect">
            <a:avLst/>
          </a:prstGeom>
          <a:solidFill>
            <a:srgbClr val="102B4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7242048" y="1874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242048" y="2377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</a:rPr>
              <a:t>Answers Stay Current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42048" y="2788920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Evidence always from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your freshest knowledge base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858768"/>
            <a:ext cx="2743200" cy="914400"/>
          </a:xfrm>
          <a:prstGeom prst="rect">
            <a:avLst/>
          </a:prstGeom>
          <a:solidFill>
            <a:srgbClr val="091829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566928" y="39319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Live Sync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42062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BM25 Tantivy index auto-syncs with Qdrant. No manual reindexing required.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37560" y="3858768"/>
            <a:ext cx="2743200" cy="914400"/>
          </a:xfrm>
          <a:prstGeom prst="rect">
            <a:avLst/>
          </a:prstGeom>
          <a:solidFill>
            <a:srgbClr val="091829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Text 32"/>
          <p:cNvSpPr/>
          <p:nvPr/>
        </p:nvSpPr>
        <p:spPr>
          <a:xfrm>
            <a:off x="3447288" y="39319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📏  Drift Detection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47288" y="42062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5% drift threshold triggers automatic alignment between keyword and semantic indexes.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17920" y="3858768"/>
            <a:ext cx="2743200" cy="914400"/>
          </a:xfrm>
          <a:prstGeom prst="rect">
            <a:avLst/>
          </a:prstGeom>
          <a:solidFill>
            <a:srgbClr val="091829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6327648" y="3931920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 KB Size Guard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27648" y="420624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Built-in guard prevents infinite paper-seeking when knowledge base is smaller than depth targets.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SYSTEM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from user query to cited academic response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" y="1600200"/>
            <a:ext cx="1627632" cy="2926080"/>
          </a:xfrm>
          <a:prstGeom prst="rect">
            <a:avLst/>
          </a:prstGeom>
          <a:solidFill>
            <a:srgbClr val="102B4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01168" y="1600200"/>
            <a:ext cx="1627632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01168" y="1600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A1628"/>
                </a:solidFill>
              </a:rPr>
              <a:t>FRONTEND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92608" y="1965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Streamlit Chat UI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2514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Sidebar Config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3063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Session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Streaming Progress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65960" y="1600200"/>
            <a:ext cx="1627632" cy="2926080"/>
          </a:xfrm>
          <a:prstGeom prst="rect">
            <a:avLst/>
          </a:prstGeom>
          <a:solidFill>
            <a:srgbClr val="102B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1965960" y="1600200"/>
            <a:ext cx="1627632" cy="2926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1965960" y="1600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A1628"/>
                </a:solidFill>
              </a:rPr>
              <a:t>ORCHESTRATOR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057400" y="1965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SequentialRAG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2514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SearchMixin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57400" y="3063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ReflectionMixin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057400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PlanningMixin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057400" y="416052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GenerationMixin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730752" y="1600200"/>
            <a:ext cx="1627632" cy="2926080"/>
          </a:xfrm>
          <a:prstGeom prst="rect">
            <a:avLst/>
          </a:prstGeom>
          <a:solidFill>
            <a:srgbClr val="102B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3730752" y="1600200"/>
            <a:ext cx="1627632" cy="2926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730752" y="1600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A1628"/>
                </a:solidFill>
              </a:rPr>
              <a:t>RETRIEVAL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822192" y="1965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HybridSearch (RRF)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22192" y="2514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QueryExpander + HyDE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22192" y="3063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Reranker (BGE)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22192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ContextBuilder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95544" y="1600200"/>
            <a:ext cx="1627632" cy="2926080"/>
          </a:xfrm>
          <a:prstGeom prst="rect">
            <a:avLst/>
          </a:prstGeom>
          <a:solidFill>
            <a:srgbClr val="102B4A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>
            <a:off x="5495544" y="1600200"/>
            <a:ext cx="1627632" cy="2926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5495544" y="1600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A1628"/>
                </a:solidFill>
              </a:rPr>
              <a:t>GENERATION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86984" y="1965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Librarian → Architect → Drafter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86984" y="2514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CitationValidator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586984" y="3063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3-Pass Proofreader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86984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Reference Splitter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260336" y="1600200"/>
            <a:ext cx="1627632" cy="2926080"/>
          </a:xfrm>
          <a:prstGeom prst="rect">
            <a:avLst/>
          </a:prstGeom>
          <a:solidFill>
            <a:srgbClr val="102B4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7260336" y="1600200"/>
            <a:ext cx="1627632" cy="292608"/>
          </a:xfrm>
          <a:prstGeom prst="rect">
            <a:avLst/>
          </a:prstGeom>
          <a:solidFill>
            <a:srgbClr val="94A3B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7260336" y="1600200"/>
            <a:ext cx="1627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0A1628"/>
                </a:solidFill>
              </a:rPr>
              <a:t>STORAGE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351776" y="196596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Qdrant (Vectors)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351776" y="251460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Tantivy BM25 Index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51776" y="306324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sme.db (APA refs)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51776" y="3611880"/>
            <a:ext cx="1463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• Ollama (LLM)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01168" y="4663440"/>
            <a:ext cx="8741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</a:rPr>
              <a:t>User Query  →  Preprocess  →  Retrieve  →  Reflect  →  Generate  →  Validate  →  Proofread  →  Cited Response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201168" y="4645152"/>
            <a:ext cx="8741664" cy="4572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CORE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Search: Best of Both Worlds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understanding + keyword precision, fused via Reciprocal Rank Fusion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840480" cy="2926080"/>
          </a:xfrm>
          <a:prstGeom prst="rect">
            <a:avLst/>
          </a:prstGeom>
          <a:solidFill>
            <a:srgbClr val="102B4A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84048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</a:rPr>
              <a:t>Semantic Search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Weight: 70%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4096-dim dense embeddings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HNSW index (ef_search=400)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Captures meaning &amp; paraphrase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794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HyDE: hypothetical doc embedding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GPU-accelerated (CUDA required)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3840480" cy="2926080"/>
          </a:xfrm>
          <a:prstGeom prst="rect">
            <a:avLst/>
          </a:prstGeom>
          <a:solidFill>
            <a:srgbClr val="102B4A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4663440" y="1600200"/>
            <a:ext cx="384048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663440" y="1737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🔡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663440" y="2176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Keyword Search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663440" y="24871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Weight: 30%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834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BM25 via Tantivy (disk-backed)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154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Exact term &amp; phrase matching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474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Auto-syncs with Qdrant index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37947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Domain synonym expansion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4114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✓  </a:t>
            </a:r>
            <a:r>
              <a:rPr lang="en-US" sz="1050" dirty="0">
                <a:solidFill>
                  <a:srgbClr val="E2EBF4"/>
                </a:solidFill>
              </a:rPr>
              <a:t>crash↔accident, AV↔self-driving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178808" y="2743200"/>
            <a:ext cx="576072" cy="703326"/>
          </a:xfrm>
          <a:prstGeom prst="rect">
            <a:avLst/>
          </a:prstGeom>
          <a:solidFill>
            <a:srgbClr val="102B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</a:rPr>
              <a:t>🔀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</a:rPr>
              <a:t>RRF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D9488"/>
                </a:solidFill>
              </a:rPr>
              <a:t>Fusion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8412480" cy="384048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45720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RRF Score  =  Σ 1 / (60 + rank_i(d))     |     hybrid_score  =  0.7 × RRF_semantic  +  0.3 × RRF_bm25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CORE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Generation Pipeline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'Prompt-and-Pray' with structured, verifiable synthesis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572768"/>
            <a:ext cx="2788920" cy="3200400"/>
          </a:xfrm>
          <a:prstGeom prst="rect">
            <a:avLst/>
          </a:prstGeom>
          <a:solidFill>
            <a:srgbClr val="102B4A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278892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274320" y="1691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📚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1305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00B4D8"/>
                </a:solidFill>
              </a:rPr>
              <a:t>LIBRARIAN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84048" y="245059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Extracts AtomicFact objects from chunks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83464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Dynamic batching: min(10, max(3, chunks÷6))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310128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Each fact: claim, quote, methodology, certainty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785616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APA citations from Qdrant payload (not LLM)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4261104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Content-hash deduplication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81528" y="28803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0" y="1572768"/>
            <a:ext cx="2788920" cy="3200400"/>
          </a:xfrm>
          <a:prstGeom prst="rect">
            <a:avLst/>
          </a:prstGeom>
          <a:solidFill>
            <a:srgbClr val="102B4A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Shape 15"/>
          <p:cNvSpPr/>
          <p:nvPr/>
        </p:nvSpPr>
        <p:spPr>
          <a:xfrm>
            <a:off x="3200400" y="1572768"/>
            <a:ext cx="278892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3200400" y="1691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🏛️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3200400" y="21305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F59E0B"/>
                </a:solidFill>
              </a:rPr>
              <a:t>ARCHITECT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10128" y="245059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Designs the section blueprint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10128" y="283464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Creates ParagraphPlan[] with rhetorical roles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310128" y="3310128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Dynamic: max(3, min(12, facts÷8)) paragraphs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10128" y="3785616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Assigns evidence IDs to each paragraph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10128" y="4261104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Validates all fact IDs exist before drafting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07608" y="288036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0" y="1572768"/>
            <a:ext cx="2788920" cy="3200400"/>
          </a:xfrm>
          <a:prstGeom prst="rect">
            <a:avLst/>
          </a:prstGeom>
          <a:solidFill>
            <a:srgbClr val="102B4A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6126480" y="1572768"/>
            <a:ext cx="278892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8" name="Text 26"/>
          <p:cNvSpPr/>
          <p:nvPr/>
        </p:nvSpPr>
        <p:spPr>
          <a:xfrm>
            <a:off x="6126480" y="169164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✍️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26480" y="213055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0D9488"/>
                </a:solidFill>
              </a:rPr>
              <a:t>DRAFTER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36208" y="2450592"/>
            <a:ext cx="2569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</a:rPr>
              <a:t>Converts plans + facts into academic prose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36208" y="2834640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Uses ONLY assigned AtomicFact objects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36208" y="3310128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Word limits scale with fact count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36208" y="3785616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NO external knowledge, NO hallucination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36208" y="4261104"/>
            <a:ext cx="2569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9488"/>
                </a:solidFill>
              </a:rPr>
              <a:t>▸  </a:t>
            </a:r>
            <a:r>
              <a:rPr lang="en-US" sz="950" dirty="0">
                <a:solidFill>
                  <a:srgbClr val="E2EBF4"/>
                </a:solidFill>
              </a:rPr>
              <a:t>Multi-source sentences, hedging for uncertainty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solidFill>
            <a:srgbClr val="0A1A12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Text 34"/>
          <p:cNvSpPr/>
          <p:nvPr/>
        </p:nvSpPr>
        <p:spPr>
          <a:xfrm>
            <a:off x="411480" y="486460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2C55E"/>
                </a:solidFill>
              </a:rPr>
              <a:t>✅  Post-generation: CitationValidator scores compliance (0.0–1.0) — score &lt; 0.70 triggers automatic regeneration with feedback prompt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CORE INTELLIGENCE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Thinking: Self-Aware Search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reflects on what it found and decides whether to keep searching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Confidence Scoring (4 Signals)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4023360" cy="45720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Relevance Coverage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15798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% chunks with score &gt; 0.75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063240" y="19019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35%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14016"/>
            <a:ext cx="4023360" cy="45720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94360" y="2414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DOI Diversity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67004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Unique papers / target papers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063240" y="24140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30%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4023360" cy="45720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59436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Term Coverage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18211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Query terms found in results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6324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25%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57200" y="3438144"/>
            <a:ext cx="4023360" cy="457200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54864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594360" y="34381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Section Diversity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36941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Variety of paper sections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63240" y="34381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B4D8"/>
                </a:solidFill>
              </a:rPr>
              <a:t>10%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57200" y="4041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Decision Routing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370832"/>
            <a:ext cx="4023360" cy="219456"/>
          </a:xfrm>
          <a:prstGeom prst="rect">
            <a:avLst/>
          </a:prstGeom>
          <a:solidFill>
            <a:srgbClr val="102B4A"/>
          </a:solidFill>
          <a:ln w="635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Text 27"/>
          <p:cNvSpPr/>
          <p:nvPr/>
        </p:nvSpPr>
        <p:spPr>
          <a:xfrm>
            <a:off x="594360" y="43708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BF4"/>
                </a:solidFill>
              </a:rPr>
              <a:t>Score ≥ 0.85  →  GENERATE  —  Skip reflection — enough evidence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617720"/>
            <a:ext cx="4023360" cy="219456"/>
          </a:xfrm>
          <a:prstGeom prst="rect">
            <a:avLst/>
          </a:prstGeom>
          <a:solidFill>
            <a:srgbClr val="102B4A"/>
          </a:solidFill>
          <a:ln w="63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1" name="Text 29"/>
          <p:cNvSpPr/>
          <p:nvPr/>
        </p:nvSpPr>
        <p:spPr>
          <a:xfrm>
            <a:off x="594360" y="461772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BF4"/>
                </a:solidFill>
              </a:rPr>
              <a:t>Score ≥ 0.65  →  EXPAND  —  Quick keyword expansion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864608"/>
            <a:ext cx="4023360" cy="219456"/>
          </a:xfrm>
          <a:prstGeom prst="rect">
            <a:avLst/>
          </a:prstGeom>
          <a:solidFill>
            <a:srgbClr val="102B4A"/>
          </a:solidFill>
          <a:ln w="63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594360" y="48646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BF4"/>
                </a:solidFill>
              </a:rPr>
              <a:t>Score &lt; 0.65  →  FULL SEQUENTIAL  —  Chain-of-Thought reflection + follow-up queries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157276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Reflection Loop (Sequential ON)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663440" y="1901952"/>
            <a:ext cx="4206240" cy="374904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>
            <a:off x="4663440" y="1901952"/>
            <a:ext cx="347472" cy="374904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7" name="Text 35"/>
          <p:cNvSpPr/>
          <p:nvPr/>
        </p:nvSpPr>
        <p:spPr>
          <a:xfrm>
            <a:off x="4663440" y="1901952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74920" y="1901952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4"/>
                </a:solidFill>
              </a:rPr>
              <a:t>Initial search completes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340864"/>
            <a:ext cx="4206240" cy="374904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Shape 38"/>
          <p:cNvSpPr/>
          <p:nvPr/>
        </p:nvSpPr>
        <p:spPr>
          <a:xfrm>
            <a:off x="4663440" y="2340864"/>
            <a:ext cx="347472" cy="374904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1" name="Text 39"/>
          <p:cNvSpPr/>
          <p:nvPr/>
        </p:nvSpPr>
        <p:spPr>
          <a:xfrm>
            <a:off x="4663440" y="2340864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2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74920" y="2340864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4"/>
                </a:solidFill>
              </a:rPr>
              <a:t>Score &lt; threshold → trigger reflection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779776"/>
            <a:ext cx="4206240" cy="374904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4" name="Shape 42"/>
          <p:cNvSpPr/>
          <p:nvPr/>
        </p:nvSpPr>
        <p:spPr>
          <a:xfrm>
            <a:off x="4663440" y="2779776"/>
            <a:ext cx="347472" cy="374904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4663440" y="2779776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3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074920" y="2779776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4"/>
                </a:solidFill>
              </a:rPr>
              <a:t>Chain-of-Thought: THOUGHT → DECISION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3218688"/>
            <a:ext cx="4206240" cy="374904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8" name="Shape 46"/>
          <p:cNvSpPr/>
          <p:nvPr/>
        </p:nvSpPr>
        <p:spPr>
          <a:xfrm>
            <a:off x="4663440" y="3218688"/>
            <a:ext cx="347472" cy="374904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9" name="Text 47"/>
          <p:cNvSpPr/>
          <p:nvPr/>
        </p:nvSpPr>
        <p:spPr>
          <a:xfrm>
            <a:off x="4663440" y="3218688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4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074920" y="3218688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4"/>
                </a:solidFill>
              </a:rPr>
              <a:t>LLM decides: FOLLOW_UP or SUFFICIENT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3657600"/>
            <a:ext cx="4206240" cy="374904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2" name="Shape 50"/>
          <p:cNvSpPr/>
          <p:nvPr/>
        </p:nvSpPr>
        <p:spPr>
          <a:xfrm>
            <a:off x="4663440" y="3657600"/>
            <a:ext cx="347472" cy="374904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3" name="Text 51"/>
          <p:cNvSpPr/>
          <p:nvPr/>
        </p:nvSpPr>
        <p:spPr>
          <a:xfrm>
            <a:off x="4663440" y="3657600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5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074920" y="3657600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4"/>
                </a:solidFill>
              </a:rPr>
              <a:t>Override: &lt;8 papers → force follow-up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663440" y="4096512"/>
            <a:ext cx="4206240" cy="374904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6" name="Shape 54"/>
          <p:cNvSpPr/>
          <p:nvPr/>
        </p:nvSpPr>
        <p:spPr>
          <a:xfrm>
            <a:off x="4663440" y="4096512"/>
            <a:ext cx="347472" cy="374904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57" name="Text 55"/>
          <p:cNvSpPr/>
          <p:nvPr/>
        </p:nvSpPr>
        <p:spPr>
          <a:xfrm>
            <a:off x="4663440" y="4096512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6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74920" y="4096512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4"/>
                </a:solidFill>
              </a:rPr>
              <a:t>Execute Round 2 (max 3 rounds for HIGH)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4535424"/>
            <a:ext cx="4206240" cy="374904"/>
          </a:xfrm>
          <a:prstGeom prst="rect">
            <a:avLst/>
          </a:prstGeom>
          <a:solidFill>
            <a:srgbClr val="102B4A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0" name="Shape 58"/>
          <p:cNvSpPr/>
          <p:nvPr/>
        </p:nvSpPr>
        <p:spPr>
          <a:xfrm>
            <a:off x="4663440" y="4535424"/>
            <a:ext cx="347472" cy="374904"/>
          </a:xfrm>
          <a:prstGeom prst="rect">
            <a:avLst/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61" name="Text 59"/>
          <p:cNvSpPr/>
          <p:nvPr/>
        </p:nvSpPr>
        <p:spPr>
          <a:xfrm>
            <a:off x="4663440" y="4535424"/>
            <a:ext cx="3474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</a:rPr>
              <a:t>7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074920" y="4535424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BF4"/>
                </a:solidFill>
              </a:rPr>
              <a:t>Proceed to generation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RESILIENCE &amp;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Falls Through: Fallback at Every Layer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safety nets ensure the system always returns a useful response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The system applies Systems Engineering principles — every stage has a graceful degradation path, never a hard failure.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412480" cy="312724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Pipeline Stage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Normal Path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Fallback 1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Last Resort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</a:rPr>
                        <a:t>Query Expansion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BF4"/>
                          </a:solidFill>
                        </a:rPr>
                        <a:t>LLM sub-query decomposition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Rule-based split on 'and'/'vs'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Original query unchanged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Orchestration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BF4"/>
                          </a:solidFill>
                        </a:rPr>
                        <a:t>LLM section plan (JSON)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_fallback_orchestration() — algorithmic plan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Even citation distribution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Section Search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BF4"/>
                          </a:solidFill>
                        </a:rPr>
                        <a:t>Per-section targeted search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Initial context reused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DiagnosticGate captures error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B4D8"/>
                          </a:solidFill>
                        </a:rPr>
                        <a:t>Reranker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BF4"/>
                          </a:solidFill>
                        </a:rPr>
                        <a:t>BGE cross-encoder reranking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NoOpReranker (pass-through)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Still returns results, unranked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V2 Generation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BF4"/>
                          </a:solidFill>
                        </a:rPr>
                        <a:t>Librarian→Architect→Drafter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Placeholder: '⚠️ Section Failed'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Other sections still generated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Proofreading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BF4"/>
                          </a:solidFill>
                        </a:rPr>
                        <a:t>3-pass micro→macro→apply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DiagnosticGate(suppress=True) → raw response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Content preserved, unpolished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D9488"/>
                          </a:solidFill>
                        </a:rPr>
                        <a:t>Citation Validation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BF4"/>
                          </a:solidFill>
                        </a:rPr>
                        <a:t>Compliance score ≥ 0.70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Regenerate once with feedback prompt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Badge: ⚪ N/A if validator unavailable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94A3B8"/>
                          </a:solidFill>
                        </a:rPr>
                        <a:t>Knowledge Map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2EBF4"/>
                          </a:solidFill>
                        </a:rPr>
                        <a:t>LLM topic landscape analysis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59E0B"/>
                          </a:solidFill>
                        </a:rPr>
                        <a:t>topic_landscape = None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</a:rPr>
                        <a:t>Sections still orchestrated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892040"/>
            <a:ext cx="8412480" cy="164592"/>
          </a:xfrm>
          <a:prstGeom prst="rect">
            <a:avLst/>
          </a:prstGeom>
          <a:solidFill>
            <a:srgbClr val="0A1828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594360" y="489204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🛡️  DiagnosticGate wraps every fallible operation with severity levels (warning / error) and suppression flags — failures are logged, never silently lost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201168" y="182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0B4D8"/>
                </a:solidFill>
              </a:rPr>
              <a:t>HEAD-TO-HEAD COMPARISON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 vs. Generalized 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 feature comparison across what matters most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572768"/>
          <a:ext cx="8503920" cy="347014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Criterion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ChatGPT / GPT-4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NotebookLM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</a:rPr>
                        <a:t>Your System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B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Data Privacy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Sent to OpenAI servers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Sent to Google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✅ Fully on-premises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Domain Specificity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Generic, all domains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⚠️ Upload-only, ephemeral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✅ Curated academic KB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Citation Quality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Often hallucinated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⚠️ Basic document ref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✅ APA + DOI verified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Hallucination Risk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🔴 High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🟡 Moderate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🟢 Very Low (Evidence-First)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Cost at Scale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Per-token billing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⚠️ Limited free tier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✅ ~$0 marginal cost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Transparency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Black box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⚠️ Partial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✅ Full audit trail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Search Strategy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Single prompt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Document Q&amp;A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Hybrid: Semantic + BM25 + HyDE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Investigation Depth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One-size-fits-all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No presets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Low / Medium / High presets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Freshness Control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Training cutoff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Manual re-upload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✅ Live KB sync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E2EBF4"/>
                          </a:solidFill>
                        </a:rPr>
                        <a:t>Offline Capability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Requires internet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94A3B8"/>
                          </a:solidFill>
                        </a:rPr>
                        <a:t>❌ Requires internet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22C55E"/>
                          </a:solidFill>
                        </a:rPr>
                        <a:t>✅ Full offline support</a:t>
                      </a:r>
                      <a:endParaRPr lang="en-US" sz="850" dirty="0"/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8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B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B4D8"/>
                </a:solidFill>
              </a:rPr>
              <a:t>CONCLUSION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Summary &amp; 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206240" cy="1078992"/>
          </a:xfrm>
          <a:prstGeom prst="rect">
            <a:avLst/>
          </a:prstGeom>
          <a:solidFill>
            <a:srgbClr val="102B4A"/>
          </a:solidFill>
          <a:ln w="635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4864" cy="10789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🔒  Generalized AI is a privacy &amp; accuracy liability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Your research questions, your data, and your findings must stay in your control. Black-box models with no citations are not acceptable for professional research.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4206240" cy="1078992"/>
          </a:xfrm>
          <a:prstGeom prst="rect">
            <a:avLst/>
          </a:prstGeom>
          <a:solidFill>
            <a:srgbClr val="102B4A"/>
          </a:solidFill>
          <a:ln w="635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Shape 8"/>
          <p:cNvSpPr/>
          <p:nvPr/>
        </p:nvSpPr>
        <p:spPr>
          <a:xfrm>
            <a:off x="365760" y="2606040"/>
            <a:ext cx="54864" cy="10789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02920" y="26791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🏗️  Evidence-First architecture eliminates hallucination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0837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The Librarian → Architect → Drafter pipeline ensures every sentence in the output is traceable to a real paper, a real DOI, and a real finding.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4206240" cy="1078992"/>
          </a:xfrm>
          <a:prstGeom prst="rect">
            <a:avLst/>
          </a:prstGeom>
          <a:solidFill>
            <a:srgbClr val="102B4A"/>
          </a:solidFill>
          <a:ln w="635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54864" cy="10789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02920" y="39136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⚡  Local deployment means zero marginal cost &amp; low latency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24281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Once deployed, querying the system costs nothing per query. GPU-accelerated local inference means sub-second retrieval and fast generation.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46320" y="1371600"/>
            <a:ext cx="4206240" cy="1078992"/>
          </a:xfrm>
          <a:prstGeom prst="rect">
            <a:avLst/>
          </a:prstGeom>
          <a:solidFill>
            <a:srgbClr val="102B4A"/>
          </a:solidFill>
          <a:ln w="635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54864" cy="10789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983480" y="14447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🛡️  Multiple safety nets mean the system never completely fails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77393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Every pipeline stage has a fallback. DiagnosticGate captures failures gracefully. The system degrades elegantly, not catastrophically.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4206240" cy="1078992"/>
          </a:xfrm>
          <a:prstGeom prst="rect">
            <a:avLst/>
          </a:prstGeom>
          <a:solidFill>
            <a:srgbClr val="102B4A"/>
          </a:solidFill>
          <a:ln w="635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2" name="Shape 20"/>
          <p:cNvSpPr/>
          <p:nvPr/>
        </p:nvSpPr>
        <p:spPr>
          <a:xfrm>
            <a:off x="4846320" y="2606040"/>
            <a:ext cx="54864" cy="10789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4983480" y="267919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 Tunable depth makes it useful for every team member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300837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From quick manager briefings (Low) to exhaustive expert syntheses (High), a single system serves technical and non-technical users alike.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46320" y="3840480"/>
            <a:ext cx="4206240" cy="1078992"/>
          </a:xfrm>
          <a:prstGeom prst="rect">
            <a:avLst/>
          </a:prstGeom>
          <a:solidFill>
            <a:srgbClr val="102B4A"/>
          </a:solidFill>
          <a:ln w="6350">
            <a:solidFill>
              <a:srgbClr val="00B4D8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54864" cy="10789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4983480" y="39136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🔄  The system stays current as your knowledge base grows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4242816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BF4"/>
                </a:solidFill>
              </a:rPr>
              <a:t>Add new papers → BM25 auto-syncs → embeddings update → answers immediately reflect the latest literature. Always fresh, always relevant.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102B4A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6583680" y="1097280"/>
            <a:ext cx="2834640" cy="2834640"/>
          </a:xfrm>
          <a:prstGeom prst="ellipse">
            <a:avLst/>
          </a:prstGeom>
          <a:solidFill>
            <a:srgbClr val="091829"/>
          </a:solidFill>
          <a:ln w="12700">
            <a:solidFill>
              <a:srgbClr val="102B4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SME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Research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Assistant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Generalized AI Never Works.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</a:rPr>
              <a:t>This Does.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BF4"/>
                </a:solidFill>
              </a:rPr>
              <a:t>A production-grade RAG system built specifically for Transportation Engineering research — private, cited, transparent, and always fresh.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52928"/>
            <a:ext cx="1828800" cy="256032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45720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</a:rPr>
              <a:t>🔒 Privacy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182880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720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💰 Cost-Effective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84448"/>
            <a:ext cx="1828800" cy="256032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57200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⚡ Fast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560320" y="2852928"/>
            <a:ext cx="1828800" cy="256032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2560320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</a:rPr>
              <a:t>✅ Cited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3218688"/>
            <a:ext cx="1828800" cy="256032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2560320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🔍 Transparent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60320" y="3584448"/>
            <a:ext cx="1828800" cy="256032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2560320" y="35844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</a:rPr>
              <a:t>🛡️ Resilient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</a:rPr>
              <a:t>SME Research Assistant  </a:t>
            </a:r>
            <a:r>
              <a:rPr lang="en-US" sz="900">
                <a:solidFill>
                  <a:srgbClr val="94A3B8"/>
                </a:solidFill>
              </a:rPr>
              <a:t>·  v1.0  </a:t>
            </a:r>
            <a:r>
              <a:rPr lang="en-US" sz="900" dirty="0">
                <a:solidFill>
                  <a:srgbClr val="94A3B8"/>
                </a:solidFill>
              </a:rPr>
              <a:t>· 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2144</Words>
  <Application>Microsoft Office PowerPoint</Application>
  <PresentationFormat>On-screen Show (16:9)</PresentationFormat>
  <Paragraphs>431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Generalized AI Never Works, Here is What Works For Your Team</dc:title>
  <dc:subject>PptxGenJS Presentation</dc:subject>
  <dc:creator>PptxGenJS</dc:creator>
  <cp:lastModifiedBy>ahmed bayoumi</cp:lastModifiedBy>
  <cp:revision>5</cp:revision>
  <dcterms:created xsi:type="dcterms:W3CDTF">2026-02-24T15:02:24Z</dcterms:created>
  <dcterms:modified xsi:type="dcterms:W3CDTF">2026-02-24T17:44:22Z</dcterms:modified>
</cp:coreProperties>
</file>